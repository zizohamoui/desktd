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D6F5"/>
          </a:solidFill>
          <a:ln w="12700">
            <a:solidFill>
              <a:srgbClr val="3DD6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1C1E3A"/>
          </a:solidFill>
          <a:ln w="12700">
            <a:solidFill>
              <a:srgbClr val="1C1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64592"/>
            <a:ext cx="548640" cy="457200"/>
          </a:xfrm>
          <a:prstGeom prst="rect">
            <a:avLst/>
          </a:prstGeom>
          <a:solidFill>
            <a:srgbClr val="3DD6F5"/>
          </a:solidFill>
          <a:ln w="12700">
            <a:solidFill>
              <a:srgbClr val="3DD6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64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23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New Since Alpha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FFD15C"/>
          </a:solidFill>
          <a:ln w="12700">
            <a:solidFill>
              <a:srgbClr val="FFD1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123"/>
                </a:solidFill>
              </a:rPr>
              <a:t>BETA UPDATE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1627632" cy="2286000"/>
          </a:xfrm>
          <a:prstGeom prst="rect">
            <a:avLst/>
          </a:prstGeom>
          <a:solidFill>
            <a:srgbClr val="1C1E3A"/>
          </a:solidFill>
          <a:ln w="12700">
            <a:solidFill>
              <a:srgbClr val="2A2D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00200"/>
            <a:ext cx="1627632" cy="73152"/>
          </a:xfrm>
          <a:prstGeom prst="rect">
            <a:avLst/>
          </a:prstGeom>
          <a:solidFill>
            <a:srgbClr val="3DD6F5"/>
          </a:solidFill>
          <a:ln w="12700">
            <a:solidFill>
              <a:srgbClr val="3DD6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2396" y="1783080"/>
            <a:ext cx="502920" cy="502920"/>
          </a:xfrm>
          <a:prstGeom prst="ellipse">
            <a:avLst/>
          </a:prstGeom>
          <a:solidFill>
            <a:srgbClr val="3DD6F5">
              <a:alpha val="85000"/>
            </a:srgbClr>
          </a:solidFill>
          <a:ln w="19050">
            <a:solidFill>
              <a:srgbClr val="3DD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239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123"/>
                </a:solidFill>
              </a:rPr>
              <a:t>LV2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37744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2 Complete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0175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Enemy introduced — freezes your towers mid-wave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84832" y="1600200"/>
            <a:ext cx="1627632" cy="2286000"/>
          </a:xfrm>
          <a:prstGeom prst="rect">
            <a:avLst/>
          </a:prstGeom>
          <a:solidFill>
            <a:srgbClr val="1C1E3A"/>
          </a:solidFill>
          <a:ln w="12700">
            <a:solidFill>
              <a:srgbClr val="2A2D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84832" y="1600200"/>
            <a:ext cx="1627632" cy="73152"/>
          </a:xfrm>
          <a:prstGeom prst="rect">
            <a:avLst/>
          </a:prstGeom>
          <a:solidFill>
            <a:srgbClr val="3DD6F5"/>
          </a:solidFill>
          <a:ln w="12700">
            <a:solidFill>
              <a:srgbClr val="3DD6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47188" y="1783080"/>
            <a:ext cx="502920" cy="502920"/>
          </a:xfrm>
          <a:prstGeom prst="ellipse">
            <a:avLst/>
          </a:prstGeom>
          <a:solidFill>
            <a:srgbClr val="A8DAFF">
              <a:alpha val="85000"/>
            </a:srgbClr>
          </a:solidFill>
          <a:ln w="19050">
            <a:solidFill>
              <a:srgbClr val="A8DA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718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123"/>
                </a:solidFill>
              </a:rPr>
              <a:t>FRZ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76272" y="237744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Freeze Mechanic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76272" y="30175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cycles through towers, disabling them one by one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9624" y="1600200"/>
            <a:ext cx="1627632" cy="2286000"/>
          </a:xfrm>
          <a:prstGeom prst="rect">
            <a:avLst/>
          </a:prstGeom>
          <a:solidFill>
            <a:srgbClr val="1C1E3A"/>
          </a:solidFill>
          <a:ln w="12700">
            <a:solidFill>
              <a:srgbClr val="2A2D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9624" y="1600200"/>
            <a:ext cx="1627632" cy="73152"/>
          </a:xfrm>
          <a:prstGeom prst="rect">
            <a:avLst/>
          </a:prstGeom>
          <a:solidFill>
            <a:srgbClr val="3DD6F5"/>
          </a:solidFill>
          <a:ln w="12700">
            <a:solidFill>
              <a:srgbClr val="3DD6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11980" y="1783080"/>
            <a:ext cx="502920" cy="502920"/>
          </a:xfrm>
          <a:prstGeom prst="ellipse">
            <a:avLst/>
          </a:prstGeom>
          <a:solidFill>
            <a:srgbClr val="FFD15C">
              <a:alpha val="85000"/>
            </a:srgbClr>
          </a:solidFill>
          <a:ln w="19050">
            <a:solidFill>
              <a:srgbClr val="FFD1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19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123"/>
                </a:solidFill>
              </a:rPr>
              <a:t>TUT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41064" y="237744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 Tutorial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41064" y="30175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guided walkthrough: sparks → towers → eraser → pickups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14416" y="1600200"/>
            <a:ext cx="1627632" cy="2286000"/>
          </a:xfrm>
          <a:prstGeom prst="rect">
            <a:avLst/>
          </a:prstGeom>
          <a:solidFill>
            <a:srgbClr val="1C1E3A"/>
          </a:solidFill>
          <a:ln w="12700">
            <a:solidFill>
              <a:srgbClr val="2A2D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14416" y="1600200"/>
            <a:ext cx="1627632" cy="73152"/>
          </a:xfrm>
          <a:prstGeom prst="rect">
            <a:avLst/>
          </a:prstGeom>
          <a:solidFill>
            <a:srgbClr val="3DD6F5"/>
          </a:solidFill>
          <a:ln w="12700">
            <a:solidFill>
              <a:srgbClr val="3DD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6772" y="1783080"/>
            <a:ext cx="502920" cy="502920"/>
          </a:xfrm>
          <a:prstGeom prst="ellipse">
            <a:avLst/>
          </a:prstGeom>
          <a:solidFill>
            <a:srgbClr val="FF6B6B">
              <a:alpha val="85000"/>
            </a:srgbClr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677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123"/>
                </a:solidFill>
              </a:rPr>
              <a:t>FIX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05856" y="237744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Shooting Bug Fixed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05856" y="30175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Towers no longer fire backwards at enemies approaching left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79208" y="1600200"/>
            <a:ext cx="1627632" cy="2286000"/>
          </a:xfrm>
          <a:prstGeom prst="rect">
            <a:avLst/>
          </a:prstGeom>
          <a:solidFill>
            <a:srgbClr val="1C1E3A"/>
          </a:solidFill>
          <a:ln w="12700">
            <a:solidFill>
              <a:srgbClr val="2A2D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79208" y="1600200"/>
            <a:ext cx="1627632" cy="73152"/>
          </a:xfrm>
          <a:prstGeom prst="rect">
            <a:avLst/>
          </a:prstGeom>
          <a:solidFill>
            <a:srgbClr val="3DD6F5"/>
          </a:solidFill>
          <a:ln w="12700">
            <a:solidFill>
              <a:srgbClr val="3DD6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41564" y="1783080"/>
            <a:ext cx="502920" cy="502920"/>
          </a:xfrm>
          <a:prstGeom prst="ellipse">
            <a:avLst/>
          </a:prstGeom>
          <a:solidFill>
            <a:srgbClr val="C084FC">
              <a:alpha val="85000"/>
            </a:srgbClr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4156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123"/>
                </a:solidFill>
              </a:rPr>
              <a:t>UI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70648" y="237744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Overhaul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70648" y="30175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fonts, generator icon states, menu layout polished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ABF"/>
                </a:solidFill>
              </a:rPr>
              <a:t>DeskTD  ·  Beta Demo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15C"/>
          </a:solidFill>
          <a:ln w="12700">
            <a:solidFill>
              <a:srgbClr val="FFD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1C1E3A"/>
          </a:solidFill>
          <a:ln w="12700">
            <a:solidFill>
              <a:srgbClr val="1C1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64592"/>
            <a:ext cx="548640" cy="457200"/>
          </a:xfrm>
          <a:prstGeom prst="rect">
            <a:avLst/>
          </a:prstGeom>
          <a:solidFill>
            <a:srgbClr val="FFD15C"/>
          </a:solidFill>
          <a:ln w="12700">
            <a:solidFill>
              <a:srgbClr val="FFD1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164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23"/>
                </a:solidFill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Focus: UI &amp; Feedback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DESIGN SPOTLIGHT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581912"/>
            <a:ext cx="4114800" cy="3291840"/>
          </a:xfrm>
          <a:prstGeom prst="rect">
            <a:avLst/>
          </a:prstGeom>
          <a:solidFill>
            <a:srgbClr val="1C1E3A"/>
          </a:solidFill>
          <a:ln w="12700">
            <a:solidFill>
              <a:srgbClr val="2A2D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81912"/>
            <a:ext cx="4114800" cy="73152"/>
          </a:xfrm>
          <a:prstGeom prst="rect">
            <a:avLst/>
          </a:prstGeom>
          <a:solidFill>
            <a:srgbClr val="FFD15C"/>
          </a:solidFill>
          <a:ln w="12700">
            <a:solidFill>
              <a:srgbClr val="FFD1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465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IMPROVED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" y="2395728"/>
            <a:ext cx="384048" cy="384048"/>
          </a:xfrm>
          <a:prstGeom prst="ellipse">
            <a:avLst/>
          </a:prstGeom>
          <a:solidFill>
            <a:srgbClr val="FFD15C">
              <a:alpha val="85000"/>
            </a:srgbClr>
          </a:solidFill>
          <a:ln w="19050">
            <a:solidFill>
              <a:srgbClr val="FFD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23"/>
                </a:solidFill>
              </a:rPr>
              <a:t>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Generator Icon States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257860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distinct states: idle, active, full, pressed — players always know their spark capacity at a glance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" y="3291840"/>
            <a:ext cx="384048" cy="384048"/>
          </a:xfrm>
          <a:prstGeom prst="ellipse">
            <a:avLst/>
          </a:prstGeom>
          <a:solidFill>
            <a:srgbClr val="3DD6F5">
              <a:alpha val="85000"/>
            </a:srgbClr>
          </a:solidFill>
          <a:ln w="19050">
            <a:solidFill>
              <a:srgbClr val="3DD6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23"/>
                </a:solidFill>
              </a:rPr>
              <a:t>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1363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Narrative Dialogue System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347472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pauses for story beats; messages queue so nothing is missed; avatar + scroll UI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" y="4187952"/>
            <a:ext cx="384048" cy="384048"/>
          </a:xfrm>
          <a:prstGeom prst="ellipse">
            <a:avLst/>
          </a:prstGeom>
          <a:solidFill>
            <a:srgbClr val="A8DAFF">
              <a:alpha val="85000"/>
            </a:srgbClr>
          </a:solidFill>
          <a:ln w="19050">
            <a:solidFill>
              <a:srgbClr val="A8D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23"/>
                </a:solidFill>
              </a:rPr>
              <a:t>*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0325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Frozen Tower Sprites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0120" y="43708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tower gets a unique frozen skin — instant visual confirmation of the Freeze Enemy's debuff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581912"/>
            <a:ext cx="4114800" cy="3291840"/>
          </a:xfrm>
          <a:prstGeom prst="rect">
            <a:avLst/>
          </a:prstGeom>
          <a:solidFill>
            <a:srgbClr val="1C1E3A"/>
          </a:solidFill>
          <a:ln w="12700">
            <a:solidFill>
              <a:srgbClr val="2A2D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581912"/>
            <a:ext cx="41148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7465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2221992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defense lives or dies on clarity.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players can't read the state of their defenses in a split second, the game feels chaotic — not strategic.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UI change this sprint was designed to answer one question:</a:t>
            </a:r>
            <a:endParaRPr lang="en-US" sz="115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600" b="1" dirty="0">
                <a:solidFill>
                  <a:srgbClr val="3D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happening right now?"</a:t>
            </a:r>
            <a:endParaRPr lang="en-US" sz="115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states → Is my spark tower ready?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sprites → Why isn't my tower shooting?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UI → What should I do next?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ABF"/>
                </a:solidFill>
              </a:rPr>
              <a:t>DeskTD  ·  Beta Demo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DeskTD Beta Presentation</dc:title>
  <dc:subject>PptxGenJS Presentation</dc:subject>
  <dc:creator>PptxGenJS</dc:creator>
  <cp:lastModifiedBy>PptxGenJS</cp:lastModifiedBy>
  <cp:revision>1</cp:revision>
  <dcterms:created xsi:type="dcterms:W3CDTF">2026-03-25T05:21:36Z</dcterms:created>
  <dcterms:modified xsi:type="dcterms:W3CDTF">2026-03-25T05:21:36Z</dcterms:modified>
</cp:coreProperties>
</file>